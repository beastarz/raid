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2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8000"/>
          </a:blip>
          <a:stretch>
            <a:fillRect/>
          </a:stretch>
        </p:blipFill>
        <p:spPr>
          <a:xfrm>
            <a:off x="8503920" y="1005840"/>
            <a:ext cx="3291840" cy="32918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96596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F5F7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RAID</a:t>
            </a:r>
            <a:endParaRPr lang="en-US" sz="8800" dirty="0"/>
          </a:p>
        </p:txBody>
      </p:sp>
      <p:sp>
        <p:nvSpPr>
          <p:cNvPr id="4" name="Text 1"/>
          <p:cNvSpPr/>
          <p:nvPr/>
        </p:nvSpPr>
        <p:spPr>
          <a:xfrm>
            <a:off x="685800" y="32461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AI-generated Image Detector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685800" y="3794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AA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AI fakes before they slip past you.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713232" y="4617720"/>
            <a:ext cx="1005840" cy="0"/>
          </a:xfrm>
          <a:prstGeom prst="line">
            <a:avLst/>
          </a:prstGeom>
          <a:noFill/>
          <a:ln w="38100">
            <a:solidFill>
              <a:srgbClr val="FF5C5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85800" y="475488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Dual-stream detection  ·  Robust to real-world compression, blur, crop &amp; noise</a:t>
            </a:r>
            <a:endParaRPr lang="en-US" sz="12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263640"/>
            <a:ext cx="201168" cy="20116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32688" y="62362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github.com/RAID-techjam/RAID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2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5F7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images got convincing.</a:t>
            </a:r>
            <a:endParaRPr lang="en-US" sz="3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5F7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People didn't get equipped.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58064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9AA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year ago you could spot the extra fingers. Today diffusion models render skin pores and correct shadows better than most people notice on a phone screen.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9AA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gap is widening every month, and it isn't landing evenly. Our parents and grandparents grew up trusting that a photo was proof something happened — they didn't grow up scrolling past a hundred synthetic images a day.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720840" y="2331720"/>
            <a:ext cx="566928" cy="566928"/>
          </a:xfrm>
          <a:prstGeom prst="ellipse">
            <a:avLst/>
          </a:prstGeom>
          <a:solidFill>
            <a:srgbClr val="FF5C5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7218" y="2428098"/>
            <a:ext cx="374172" cy="3741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0" y="230428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scam ads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498080" y="262432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Fabricated products, fake celebrity endorsements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720840" y="3383280"/>
            <a:ext cx="566928" cy="566928"/>
          </a:xfrm>
          <a:prstGeom prst="ellipse">
            <a:avLst/>
          </a:prstGeom>
          <a:solidFill>
            <a:srgbClr val="FF5C5C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7218" y="3479658"/>
            <a:ext cx="374172" cy="37417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498080" y="335584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product photos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7498080" y="367588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Listings that don't exist as shown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720840" y="4434840"/>
            <a:ext cx="566928" cy="566928"/>
          </a:xfrm>
          <a:prstGeom prst="ellipse">
            <a:avLst/>
          </a:prstGeom>
          <a:solidFill>
            <a:srgbClr val="FF5C5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7218" y="4531218"/>
            <a:ext cx="374172" cy="37417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498080" y="440740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Fabricated "news" images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7498080" y="472744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as proof in family group chats</a:t>
            </a:r>
            <a:endParaRPr lang="en-US" sz="1150" dirty="0"/>
          </a:p>
        </p:txBody>
      </p:sp>
      <p:sp>
        <p:nvSpPr>
          <p:cNvPr id="17" name="Text 12"/>
          <p:cNvSpPr/>
          <p:nvPr/>
        </p:nvSpPr>
        <p:spPr>
          <a:xfrm>
            <a:off x="548640" y="652881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AA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RAID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10515600" y="652881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2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C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5F7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straight answer, not a research paper.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5669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9AA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RAID sits between an image and a person and gives a plain answer: this was probably made by AI — with a probability, and a visual explanation of why. Simple enough that someone who's never heard of a GAN can upload a photo and understand the result.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3429000"/>
            <a:ext cx="457200" cy="457200"/>
          </a:xfrm>
          <a:prstGeom prst="ellipse">
            <a:avLst/>
          </a:prstGeom>
          <a:solidFill>
            <a:srgbClr val="232A5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3502152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70432" y="341071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probability score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170432" y="368503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P(AI-Generated), not a wall of numbers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4206240"/>
            <a:ext cx="457200" cy="457200"/>
          </a:xfrm>
          <a:prstGeom prst="ellipse">
            <a:avLst/>
          </a:prstGeom>
          <a:solidFill>
            <a:srgbClr val="232A52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4279392"/>
            <a:ext cx="310896" cy="31089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70432" y="418795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visual explanation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1170432" y="446227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Saliency heatmap over the flagged region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48640" y="4983480"/>
            <a:ext cx="457200" cy="457200"/>
          </a:xfrm>
          <a:prstGeom prst="ellipse">
            <a:avLst/>
          </a:prstGeom>
          <a:solidFill>
            <a:srgbClr val="232A52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5056632"/>
            <a:ext cx="310896" cy="31089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70432" y="496519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real-world images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1170432" y="523951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pristine, uncompressed uploads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6675120" y="1783080"/>
            <a:ext cx="4983480" cy="4251960"/>
          </a:xfrm>
          <a:prstGeom prst="roundRect">
            <a:avLst>
              <a:gd name="adj" fmla="val 3011"/>
            </a:avLst>
          </a:prstGeom>
          <a:solidFill>
            <a:srgbClr val="161B38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Text 13"/>
          <p:cNvSpPr/>
          <p:nvPr/>
        </p:nvSpPr>
        <p:spPr>
          <a:xfrm>
            <a:off x="6995160" y="20116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9AA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APP OUTPUT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995160" y="2423160"/>
            <a:ext cx="4343400" cy="1965960"/>
          </a:xfrm>
          <a:prstGeom prst="roundRect">
            <a:avLst>
              <a:gd name="adj" fmla="val 3721"/>
            </a:avLst>
          </a:prstGeom>
          <a:solidFill>
            <a:srgbClr val="232A52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>
            <a:alphaModFix amt="75000"/>
          </a:blip>
          <a:stretch>
            <a:fillRect/>
          </a:stretch>
        </p:blipFill>
        <p:spPr>
          <a:xfrm>
            <a:off x="8823960" y="2788920"/>
            <a:ext cx="685800" cy="6858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995160" y="365760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uploaded_photo.jpg</a:t>
            </a:r>
            <a:endParaRPr lang="en-US" sz="1000" dirty="0"/>
          </a:p>
        </p:txBody>
      </p:sp>
      <p:sp>
        <p:nvSpPr>
          <p:cNvPr id="22" name="Text 16"/>
          <p:cNvSpPr/>
          <p:nvPr/>
        </p:nvSpPr>
        <p:spPr>
          <a:xfrm>
            <a:off x="6995160" y="457200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5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82%</a:t>
            </a:r>
            <a:endParaRPr lang="en-US" sz="4400" dirty="0"/>
          </a:p>
        </p:txBody>
      </p:sp>
      <p:sp>
        <p:nvSpPr>
          <p:cNvPr id="23" name="Text 17"/>
          <p:cNvSpPr/>
          <p:nvPr/>
        </p:nvSpPr>
        <p:spPr>
          <a:xfrm>
            <a:off x="6995160" y="53492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Probability: AI-Generated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6995160" y="568756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AA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UI mockup — see Results for real benchmark numbers.</a:t>
            </a:r>
            <a:endParaRPr lang="en-US" sz="950" dirty="0"/>
          </a:p>
        </p:txBody>
      </p:sp>
      <p:sp>
        <p:nvSpPr>
          <p:cNvPr id="25" name="Text 19"/>
          <p:cNvSpPr/>
          <p:nvPr/>
        </p:nvSpPr>
        <p:spPr>
          <a:xfrm>
            <a:off x="548640" y="652881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AA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RAID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0515600" y="652881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2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5F7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ways to catch a fake.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926080"/>
            <a:ext cx="1600200" cy="1188720"/>
          </a:xfrm>
          <a:prstGeom prst="roundRect">
            <a:avLst>
              <a:gd name="adj" fmla="val 9231"/>
            </a:avLst>
          </a:prstGeom>
          <a:solidFill>
            <a:srgbClr val="232A52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68680" y="310896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372160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AA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Image</a:t>
            </a:r>
            <a:endParaRPr lang="en-US" sz="10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3319272"/>
            <a:ext cx="365760" cy="36576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2788920" y="2148840"/>
            <a:ext cx="2331720" cy="1234440"/>
          </a:xfrm>
          <a:prstGeom prst="roundRect">
            <a:avLst>
              <a:gd name="adj" fmla="val 8889"/>
            </a:avLst>
          </a:prstGeom>
          <a:solidFill>
            <a:srgbClr val="161B38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>
            <a:alphaModFix amt="90000"/>
          </a:blip>
          <a:stretch>
            <a:fillRect/>
          </a:stretch>
        </p:blipFill>
        <p:spPr>
          <a:xfrm>
            <a:off x="2990088" y="2350008"/>
            <a:ext cx="457200" cy="4572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566160" y="240487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Stream</a:t>
            </a:r>
            <a:endParaRPr lang="en-US" sz="1250" dirty="0"/>
          </a:p>
        </p:txBody>
      </p:sp>
      <p:sp>
        <p:nvSpPr>
          <p:cNvPr id="11" name="Text 6"/>
          <p:cNvSpPr/>
          <p:nvPr/>
        </p:nvSpPr>
        <p:spPr>
          <a:xfrm>
            <a:off x="2990088" y="29260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ViT-B/16 · high-level content</a:t>
            </a:r>
            <a:endParaRPr lang="en-US" sz="1000" dirty="0"/>
          </a:p>
        </p:txBody>
      </p:sp>
      <p:sp>
        <p:nvSpPr>
          <p:cNvPr id="12" name="Shape 7"/>
          <p:cNvSpPr/>
          <p:nvPr/>
        </p:nvSpPr>
        <p:spPr>
          <a:xfrm>
            <a:off x="2788920" y="3657600"/>
            <a:ext cx="2331720" cy="1234440"/>
          </a:xfrm>
          <a:prstGeom prst="roundRect">
            <a:avLst>
              <a:gd name="adj" fmla="val 8889"/>
            </a:avLst>
          </a:prstGeom>
          <a:solidFill>
            <a:srgbClr val="161B38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>
            <a:alphaModFix amt="90000"/>
          </a:blip>
          <a:stretch>
            <a:fillRect/>
          </a:stretch>
        </p:blipFill>
        <p:spPr>
          <a:xfrm>
            <a:off x="2990088" y="3858768"/>
            <a:ext cx="457200" cy="4572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3566160" y="391363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Forensic Stream</a:t>
            </a:r>
            <a:endParaRPr lang="en-US" sz="1250" dirty="0"/>
          </a:p>
        </p:txBody>
      </p:sp>
      <p:sp>
        <p:nvSpPr>
          <p:cNvPr id="15" name="Text 9"/>
          <p:cNvSpPr/>
          <p:nvPr/>
        </p:nvSpPr>
        <p:spPr>
          <a:xfrm>
            <a:off x="2990088" y="44348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NPR / Bayar+SRM · pixel artifacts</a:t>
            </a:r>
            <a:endParaRPr lang="en-US" sz="10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0368" y="3319272"/>
            <a:ext cx="365760" cy="365760"/>
          </a:xfrm>
          <a:prstGeom prst="rect">
            <a:avLst/>
          </a:prstGeom>
        </p:spPr>
      </p:pic>
      <p:sp>
        <p:nvSpPr>
          <p:cNvPr id="17" name="Shape 10"/>
          <p:cNvSpPr/>
          <p:nvPr/>
        </p:nvSpPr>
        <p:spPr>
          <a:xfrm>
            <a:off x="5715000" y="2697480"/>
            <a:ext cx="1920240" cy="1417320"/>
          </a:xfrm>
          <a:prstGeom prst="roundRect">
            <a:avLst>
              <a:gd name="adj" fmla="val 7742"/>
            </a:avLst>
          </a:prstGeom>
          <a:solidFill>
            <a:srgbClr val="232A52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>
            <a:alphaModFix amt="90000"/>
          </a:blip>
          <a:stretch>
            <a:fillRect/>
          </a:stretch>
        </p:blipFill>
        <p:spPr>
          <a:xfrm>
            <a:off x="6400800" y="2862072"/>
            <a:ext cx="548640" cy="54864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5715000" y="344728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 Layer</a:t>
            </a:r>
            <a:endParaRPr lang="en-US" sz="1200" dirty="0"/>
          </a:p>
        </p:txBody>
      </p:sp>
      <p:sp>
        <p:nvSpPr>
          <p:cNvPr id="20" name="Text 12"/>
          <p:cNvSpPr/>
          <p:nvPr/>
        </p:nvSpPr>
        <p:spPr>
          <a:xfrm>
            <a:off x="5715000" y="37490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A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cross-attention</a:t>
            </a:r>
            <a:endParaRPr lang="en-US" sz="950" dirty="0"/>
          </a:p>
        </p:txBody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0" y="3319272"/>
            <a:ext cx="365760" cy="365760"/>
          </a:xfrm>
          <a:prstGeom prst="rect">
            <a:avLst/>
          </a:prstGeom>
        </p:spPr>
      </p:pic>
      <p:sp>
        <p:nvSpPr>
          <p:cNvPr id="22" name="Shape 13"/>
          <p:cNvSpPr/>
          <p:nvPr/>
        </p:nvSpPr>
        <p:spPr>
          <a:xfrm>
            <a:off x="8275320" y="2514600"/>
            <a:ext cx="2148840" cy="1783080"/>
          </a:xfrm>
          <a:prstGeom prst="roundRect">
            <a:avLst>
              <a:gd name="adj" fmla="val 6154"/>
            </a:avLst>
          </a:prstGeom>
          <a:solidFill>
            <a:srgbClr val="161B38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8">
            <a:alphaModFix amt="90000"/>
          </a:blip>
          <a:stretch>
            <a:fillRect/>
          </a:stretch>
        </p:blipFill>
        <p:spPr>
          <a:xfrm>
            <a:off x="9052560" y="2697480"/>
            <a:ext cx="594360" cy="594360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8275320" y="338328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300" dirty="0"/>
          </a:p>
        </p:txBody>
      </p:sp>
      <p:sp>
        <p:nvSpPr>
          <p:cNvPr id="25" name="Text 15"/>
          <p:cNvSpPr/>
          <p:nvPr/>
        </p:nvSpPr>
        <p:spPr>
          <a:xfrm>
            <a:off x="8275320" y="3721608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A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P(AI-Generated) + heatmap</a:t>
            </a:r>
            <a:endParaRPr lang="en-US" sz="950" dirty="0"/>
          </a:p>
        </p:txBody>
      </p:sp>
      <p:sp>
        <p:nvSpPr>
          <p:cNvPr id="26" name="Text 16"/>
          <p:cNvSpPr/>
          <p:nvPr/>
        </p:nvSpPr>
        <p:spPr>
          <a:xfrm>
            <a:off x="548640" y="55321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A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streams share one BaseFeatureStream interface and feed a compact classification head — the whole pipeline stays under a 2B parameter budget (target ~337M).</a:t>
            </a:r>
            <a:endParaRPr lang="en-US" sz="1200" dirty="0"/>
          </a:p>
        </p:txBody>
      </p:sp>
      <p:sp>
        <p:nvSpPr>
          <p:cNvPr id="27" name="Text 17"/>
          <p:cNvSpPr/>
          <p:nvPr/>
        </p:nvSpPr>
        <p:spPr>
          <a:xfrm>
            <a:off x="548640" y="652881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AA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RAID</a:t>
            </a:r>
            <a:endParaRPr lang="en-US" sz="900" dirty="0"/>
          </a:p>
        </p:txBody>
      </p:sp>
      <p:sp>
        <p:nvSpPr>
          <p:cNvPr id="28" name="Text 18"/>
          <p:cNvSpPr/>
          <p:nvPr/>
        </p:nvSpPr>
        <p:spPr>
          <a:xfrm>
            <a:off x="10515600" y="652881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2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1 OF 2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685800" cy="685800"/>
          </a:xfrm>
          <a:prstGeom prst="ellipse">
            <a:avLst/>
          </a:prstGeom>
          <a:solidFill>
            <a:srgbClr val="232A52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618488"/>
            <a:ext cx="466344" cy="4663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1572768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7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Semantic Stream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48640" y="2606040"/>
            <a:ext cx="5623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9AA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ViT-B/16 backbone (with optional fine-tuning of the last few transformer blocks) that reasons about high-level content, composition, and semantic irrelevancies — the things a generative model still gets subtly wrong.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548640" y="4434840"/>
            <a:ext cx="5623560" cy="1417320"/>
          </a:xfrm>
          <a:prstGeom prst="roundRect">
            <a:avLst>
              <a:gd name="adj" fmla="val 7742"/>
            </a:avLst>
          </a:prstGeom>
          <a:solidFill>
            <a:srgbClr val="161B38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777240" y="4645152"/>
            <a:ext cx="365760" cy="365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34440" y="464515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[B, 3, H, W]  →  [B, 1024]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777240" y="512064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tensor → feature vector, per the shared BaseFeatureStream contract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6675120" y="2606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CATCHES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675120" y="3017520"/>
            <a:ext cx="4937760" cy="777240"/>
          </a:xfrm>
          <a:prstGeom prst="roundRect">
            <a:avLst>
              <a:gd name="adj" fmla="val 14118"/>
            </a:avLst>
          </a:prstGeom>
          <a:solidFill>
            <a:srgbClr val="161B38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903720" y="3310128"/>
            <a:ext cx="182880" cy="182880"/>
          </a:xfrm>
          <a:prstGeom prst="ellipse">
            <a:avLst/>
          </a:prstGeom>
          <a:solidFill>
            <a:srgbClr val="3ECF8E"/>
          </a:solidFill>
          <a:ln/>
        </p:spPr>
      </p:sp>
      <p:sp>
        <p:nvSpPr>
          <p:cNvPr id="14" name="Text 10"/>
          <p:cNvSpPr/>
          <p:nvPr/>
        </p:nvSpPr>
        <p:spPr>
          <a:xfrm>
            <a:off x="7269480" y="301752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Impossible anatomy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6675120" y="3977640"/>
            <a:ext cx="4937760" cy="777240"/>
          </a:xfrm>
          <a:prstGeom prst="roundRect">
            <a:avLst>
              <a:gd name="adj" fmla="val 14118"/>
            </a:avLst>
          </a:prstGeom>
          <a:solidFill>
            <a:srgbClr val="161B38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903720" y="4270248"/>
            <a:ext cx="182880" cy="182880"/>
          </a:xfrm>
          <a:prstGeom prst="ellipse">
            <a:avLst/>
          </a:prstGeom>
          <a:solidFill>
            <a:srgbClr val="3ECF8E"/>
          </a:solidFill>
          <a:ln/>
        </p:spPr>
      </p:sp>
      <p:sp>
        <p:nvSpPr>
          <p:cNvPr id="17" name="Text 13"/>
          <p:cNvSpPr/>
          <p:nvPr/>
        </p:nvSpPr>
        <p:spPr>
          <a:xfrm>
            <a:off x="7269480" y="397764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Warped or garbled text</a:t>
            </a:r>
            <a:endParaRPr lang="en-US" sz="1350" dirty="0"/>
          </a:p>
        </p:txBody>
      </p:sp>
      <p:sp>
        <p:nvSpPr>
          <p:cNvPr id="18" name="Shape 14"/>
          <p:cNvSpPr/>
          <p:nvPr/>
        </p:nvSpPr>
        <p:spPr>
          <a:xfrm>
            <a:off x="6675120" y="4937760"/>
            <a:ext cx="4937760" cy="777240"/>
          </a:xfrm>
          <a:prstGeom prst="roundRect">
            <a:avLst>
              <a:gd name="adj" fmla="val 14118"/>
            </a:avLst>
          </a:prstGeom>
          <a:solidFill>
            <a:srgbClr val="161B38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903720" y="5230368"/>
            <a:ext cx="182880" cy="182880"/>
          </a:xfrm>
          <a:prstGeom prst="ellipse">
            <a:avLst/>
          </a:prstGeom>
          <a:solidFill>
            <a:srgbClr val="3ECF8E"/>
          </a:solidFill>
          <a:ln/>
        </p:spPr>
      </p:sp>
      <p:sp>
        <p:nvSpPr>
          <p:cNvPr id="20" name="Text 16"/>
          <p:cNvSpPr/>
          <p:nvPr/>
        </p:nvSpPr>
        <p:spPr>
          <a:xfrm>
            <a:off x="7269480" y="493776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Physically inconsistent lighting</a:t>
            </a:r>
            <a:endParaRPr lang="en-US" sz="1350" dirty="0"/>
          </a:p>
        </p:txBody>
      </p:sp>
      <p:sp>
        <p:nvSpPr>
          <p:cNvPr id="21" name="Text 17"/>
          <p:cNvSpPr/>
          <p:nvPr/>
        </p:nvSpPr>
        <p:spPr>
          <a:xfrm>
            <a:off x="548640" y="652881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AA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RAID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10515600" y="652881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2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2 OF 2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685800" cy="685800"/>
          </a:xfrm>
          <a:prstGeom prst="ellipse">
            <a:avLst/>
          </a:prstGeom>
          <a:solidFill>
            <a:srgbClr val="232A52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618488"/>
            <a:ext cx="466344" cy="4663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15727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7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Forensic Stream (NPR)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48640" y="2606040"/>
            <a:ext cx="5623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9AA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low-level generation artifacts that survive resizing and re-compression. NPR — Neighboring Pixel Relationships — is a fixed, parameter-free downsample/upsample residual that isolates the periodic pattern every GAN/diffusion decoder's upsampling stack leaves behind (Tan et al., CVPR 2024).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548640" y="4709160"/>
            <a:ext cx="5623560" cy="1234440"/>
          </a:xfrm>
          <a:prstGeom prst="roundRect">
            <a:avLst>
              <a:gd name="adj" fmla="val 8889"/>
            </a:avLst>
          </a:prstGeom>
          <a:solidFill>
            <a:srgbClr val="161B38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777240" y="4901184"/>
            <a:ext cx="365760" cy="365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34440" y="490118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[B, 3, H, W]  →  [B, 256 / 768]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777240" y="534924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256-d for the NPR frontend, 768-d for the Bayar+SRM frontend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6675120" y="2606040"/>
            <a:ext cx="4937760" cy="3337560"/>
          </a:xfrm>
          <a:prstGeom prst="roundRect">
            <a:avLst>
              <a:gd name="adj" fmla="val 3836"/>
            </a:avLst>
          </a:prstGeom>
          <a:solidFill>
            <a:srgbClr val="232A52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6903720" y="2816352"/>
            <a:ext cx="384048" cy="38404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406640" y="281635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Swappable frontend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6903720" y="3383280"/>
            <a:ext cx="448056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9AA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Behind the same interface, a Bayar constrained-conv + SRM-filter frontend was built as an alternate forensic front end.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9AA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currently published pretrained weights use Bayar+SRM — but NPR alone scores higher on clean validation AUC. Settling which one holds up better under aggressive rescaling is next (see What's Next).</a:t>
            </a:r>
            <a:endParaRPr lang="en-US" sz="1250" dirty="0"/>
          </a:p>
        </p:txBody>
      </p:sp>
      <p:sp>
        <p:nvSpPr>
          <p:cNvPr id="15" name="Text 10"/>
          <p:cNvSpPr/>
          <p:nvPr/>
        </p:nvSpPr>
        <p:spPr>
          <a:xfrm>
            <a:off x="548640" y="652881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AA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RAID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10515600" y="652881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2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F5F7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Trained to survive a group chat, not just a benchmark.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3520440" cy="1600200"/>
          </a:xfrm>
          <a:prstGeom prst="roundRect">
            <a:avLst>
              <a:gd name="adj" fmla="val 6857"/>
            </a:avLst>
          </a:prstGeom>
          <a:solidFill>
            <a:srgbClr val="161B38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67712"/>
            <a:ext cx="594360" cy="594360"/>
          </a:xfrm>
          <a:prstGeom prst="ellipse">
            <a:avLst/>
          </a:prstGeom>
          <a:solidFill>
            <a:srgbClr val="3ECF8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9770" y="2362810"/>
            <a:ext cx="404165" cy="40416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22860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JPEG Compression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554480" y="263347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30–90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297680" y="2011680"/>
            <a:ext cx="3520440" cy="1600200"/>
          </a:xfrm>
          <a:prstGeom prst="roundRect">
            <a:avLst>
              <a:gd name="adj" fmla="val 6857"/>
            </a:avLst>
          </a:prstGeom>
          <a:solidFill>
            <a:srgbClr val="161B38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53712" y="2267712"/>
            <a:ext cx="594360" cy="594360"/>
          </a:xfrm>
          <a:prstGeom prst="ellipse">
            <a:avLst/>
          </a:prstGeom>
          <a:solidFill>
            <a:srgbClr val="3ECF8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810" y="2362810"/>
            <a:ext cx="404165" cy="40416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03520" y="22860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Blur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5303520" y="263347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sigma 0.5–2.0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046720" y="2011680"/>
            <a:ext cx="3520440" cy="1600200"/>
          </a:xfrm>
          <a:prstGeom prst="roundRect">
            <a:avLst>
              <a:gd name="adj" fmla="val 6857"/>
            </a:avLst>
          </a:prstGeom>
          <a:solidFill>
            <a:srgbClr val="161B38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02752" y="2267712"/>
            <a:ext cx="594360" cy="594360"/>
          </a:xfrm>
          <a:prstGeom prst="ellipse">
            <a:avLst/>
          </a:prstGeom>
          <a:solidFill>
            <a:srgbClr val="3ECF8E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7850" y="2362810"/>
            <a:ext cx="404165" cy="40416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052560" y="22860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Rescaling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9052560" y="263347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0.25x–0.5x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8640" y="3886200"/>
            <a:ext cx="3520440" cy="1600200"/>
          </a:xfrm>
          <a:prstGeom prst="roundRect">
            <a:avLst>
              <a:gd name="adj" fmla="val 6857"/>
            </a:avLst>
          </a:prstGeom>
          <a:solidFill>
            <a:srgbClr val="161B38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04672" y="4142232"/>
            <a:ext cx="594360" cy="594360"/>
          </a:xfrm>
          <a:prstGeom prst="ellipse">
            <a:avLst/>
          </a:prstGeom>
          <a:solidFill>
            <a:srgbClr val="3ECF8E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770" y="4237330"/>
            <a:ext cx="404165" cy="40416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54480" y="41605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Noise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1554480" y="450799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randomized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297680" y="3886200"/>
            <a:ext cx="3520440" cy="1600200"/>
          </a:xfrm>
          <a:prstGeom prst="roundRect">
            <a:avLst>
              <a:gd name="adj" fmla="val 6857"/>
            </a:avLst>
          </a:prstGeom>
          <a:solidFill>
            <a:srgbClr val="161B38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53712" y="4142232"/>
            <a:ext cx="594360" cy="594360"/>
          </a:xfrm>
          <a:prstGeom prst="ellipse">
            <a:avLst/>
          </a:prstGeom>
          <a:solidFill>
            <a:srgbClr val="3ECF8E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8810" y="4237330"/>
            <a:ext cx="404165" cy="40416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303520" y="41605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Jitter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5303520" y="450799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hue / saturation / brightness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8046720" y="3886200"/>
            <a:ext cx="3520440" cy="1600200"/>
          </a:xfrm>
          <a:prstGeom prst="roundRect">
            <a:avLst>
              <a:gd name="adj" fmla="val 6857"/>
            </a:avLst>
          </a:prstGeom>
          <a:solidFill>
            <a:srgbClr val="161B38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02752" y="4142232"/>
            <a:ext cx="594360" cy="594360"/>
          </a:xfrm>
          <a:prstGeom prst="ellipse">
            <a:avLst/>
          </a:prstGeom>
          <a:solidFill>
            <a:srgbClr val="3ECF8E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97850" y="4237330"/>
            <a:ext cx="404165" cy="404165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052560" y="41605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Cropping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9052560" y="450799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center crop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548640" y="60807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AA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Baked into training and evaluation from day one — not bolted on at the end.</a:t>
            </a:r>
            <a:endParaRPr lang="en-US" sz="1250" dirty="0"/>
          </a:p>
        </p:txBody>
      </p:sp>
      <p:sp>
        <p:nvSpPr>
          <p:cNvPr id="35" name="Text 27"/>
          <p:cNvSpPr/>
          <p:nvPr/>
        </p:nvSpPr>
        <p:spPr>
          <a:xfrm>
            <a:off x="548640" y="652881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AA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RAID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0515600" y="652881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2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5F7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we landed.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520440" cy="2880360"/>
          </a:xfrm>
          <a:prstGeom prst="roundRect">
            <a:avLst>
              <a:gd name="adj" fmla="val 4444"/>
            </a:avLst>
          </a:prstGeom>
          <a:solidFill>
            <a:srgbClr val="161B38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28600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5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0.87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868680" y="320040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365760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Bayar+SRM fusion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68680" y="411480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AA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validation, 10K SID_Set subset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97680" y="1965960"/>
            <a:ext cx="3520440" cy="2880360"/>
          </a:xfrm>
          <a:prstGeom prst="roundRect">
            <a:avLst>
              <a:gd name="adj" fmla="val 4444"/>
            </a:avLst>
          </a:prstGeom>
          <a:solidFill>
            <a:srgbClr val="161B38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17720" y="228600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5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0.91</a:t>
            </a:r>
            <a:endParaRPr lang="en-US" sz="5600" dirty="0"/>
          </a:p>
        </p:txBody>
      </p:sp>
      <p:sp>
        <p:nvSpPr>
          <p:cNvPr id="11" name="Text 9"/>
          <p:cNvSpPr/>
          <p:nvPr/>
        </p:nvSpPr>
        <p:spPr>
          <a:xfrm>
            <a:off x="4617720" y="320040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17720" y="365760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NPR stream alone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617720" y="411480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AA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held-out validation split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46720" y="1965960"/>
            <a:ext cx="3520440" cy="2880360"/>
          </a:xfrm>
          <a:prstGeom prst="roundRect">
            <a:avLst>
              <a:gd name="adj" fmla="val 4444"/>
            </a:avLst>
          </a:prstGeom>
          <a:solidFill>
            <a:srgbClr val="161B38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366760" y="228600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5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0.85</a:t>
            </a:r>
            <a:endParaRPr lang="en-US" sz="5600" dirty="0"/>
          </a:p>
        </p:txBody>
      </p:sp>
      <p:sp>
        <p:nvSpPr>
          <p:cNvPr id="16" name="Text 14"/>
          <p:cNvSpPr/>
          <p:nvPr/>
        </p:nvSpPr>
        <p:spPr>
          <a:xfrm>
            <a:off x="8366760" y="320040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366760" y="365760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 robustness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366760" y="411480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AA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0.5x scale, after resize augmentation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48640" y="51206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AA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aggressive 0.25x–0.35x rescaling remains challenging. Treat all numbers as hackathon-scale, not production-grade — see Limitations in ABOUT.md.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48640" y="652881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AA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RAID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515600" y="652881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2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5F7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upload to answer in one click.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5577840" cy="4114800"/>
          </a:xfrm>
          <a:prstGeom prst="roundRect">
            <a:avLst>
              <a:gd name="adj" fmla="val 3111"/>
            </a:avLst>
          </a:prstGeom>
          <a:solidFill>
            <a:srgbClr val="161B38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194560"/>
            <a:ext cx="128016" cy="128016"/>
          </a:xfrm>
          <a:prstGeom prst="ellipse">
            <a:avLst/>
          </a:prstGeom>
          <a:solidFill>
            <a:srgbClr val="FF5C5C"/>
          </a:solidFill>
          <a:ln/>
        </p:spPr>
      </p:sp>
      <p:sp>
        <p:nvSpPr>
          <p:cNvPr id="6" name="Shape 4"/>
          <p:cNvSpPr/>
          <p:nvPr/>
        </p:nvSpPr>
        <p:spPr>
          <a:xfrm>
            <a:off x="960120" y="2194560"/>
            <a:ext cx="128016" cy="128016"/>
          </a:xfrm>
          <a:prstGeom prst="ellipse">
            <a:avLst/>
          </a:prstGeom>
          <a:solidFill>
            <a:srgbClr val="F5C542"/>
          </a:solidFill>
          <a:ln/>
        </p:spPr>
      </p:sp>
      <p:sp>
        <p:nvSpPr>
          <p:cNvPr id="7" name="Shape 5"/>
          <p:cNvSpPr/>
          <p:nvPr/>
        </p:nvSpPr>
        <p:spPr>
          <a:xfrm>
            <a:off x="1143000" y="2194560"/>
            <a:ext cx="128016" cy="128016"/>
          </a:xfrm>
          <a:prstGeom prst="ellipse">
            <a:avLst/>
          </a:prstGeom>
          <a:solidFill>
            <a:srgbClr val="3ECF8E"/>
          </a:solidFill>
          <a:ln/>
        </p:spPr>
      </p:sp>
      <p:sp>
        <p:nvSpPr>
          <p:cNvPr id="8" name="Text 6"/>
          <p:cNvSpPr/>
          <p:nvPr/>
        </p:nvSpPr>
        <p:spPr>
          <a:xfrm>
            <a:off x="1371600" y="21214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RAID — Gradio App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22960" y="2606040"/>
            <a:ext cx="5029200" cy="1874520"/>
          </a:xfrm>
          <a:prstGeom prst="roundRect">
            <a:avLst>
              <a:gd name="adj" fmla="val 3902"/>
            </a:avLst>
          </a:prstGeom>
          <a:solidFill>
            <a:srgbClr val="232A52"/>
          </a:solidFill>
          <a:ln w="12700"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>
            <a:alphaModFix amt="85000"/>
          </a:blip>
          <a:stretch>
            <a:fillRect/>
          </a:stretch>
        </p:blipFill>
        <p:spPr>
          <a:xfrm>
            <a:off x="3063240" y="3063240"/>
            <a:ext cx="594360" cy="5943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22960" y="37947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AA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&amp; drop a .jpg / .png / .webp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822960" y="4663440"/>
            <a:ext cx="1371600" cy="502920"/>
          </a:xfrm>
          <a:prstGeom prst="roundRect">
            <a:avLst>
              <a:gd name="adj" fmla="val 50909"/>
            </a:avLst>
          </a:prstGeom>
          <a:solidFill>
            <a:srgbClr val="3ECF8E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" y="4791456"/>
            <a:ext cx="256032" cy="2560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280160" y="466344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2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2377440" y="46634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P(AI-Generated): 82%   ·   label + saliency overlay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822960" y="534924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i="1" dirty="0">
                <a:solidFill>
                  <a:srgbClr val="9AA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line under the title always states which checkpoint is active — real fusion weights or the stub pipeline.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6400800" y="2011680"/>
            <a:ext cx="5257800" cy="4114800"/>
          </a:xfrm>
          <a:prstGeom prst="roundRect">
            <a:avLst>
              <a:gd name="adj" fmla="val 2222"/>
            </a:avLst>
          </a:prstGeom>
          <a:solidFill>
            <a:srgbClr val="0A0D1C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6675120" y="2212848"/>
            <a:ext cx="320040" cy="3200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086600" y="22128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predict.py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6675120" y="2697480"/>
            <a:ext cx="47548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5F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 predict.py \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5F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--image test_sample.jpg --bayar \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5F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--checkpoint checkpoints/detector_fusion.pt \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5F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--semantic-checkpoint \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5F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checkpoints/semantic_stream.pt \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5F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--bayar-checkpoint \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5F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checkpoints/bayar_srm_stream.pt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5F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{"image": "test_sample.jpg",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5F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"prob_ai_generated": 0.82,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5F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"label": "AI-Generated",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5F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"inference_ms": 143.2}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548640" y="652881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AA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RAID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10515600" y="652881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2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C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5F7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roadmap.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02920" cy="502920"/>
          </a:xfrm>
          <a:prstGeom prst="ellipse">
            <a:avLst/>
          </a:prstGeom>
          <a:solidFill>
            <a:srgbClr val="3ECF8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12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34440" y="194767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 joint fusion training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34440" y="2295144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semantic + forensic streams together, not just independently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800100" y="2468880"/>
            <a:ext cx="0" cy="338328"/>
          </a:xfrm>
          <a:prstGeom prst="line">
            <a:avLst/>
          </a:prstGeom>
          <a:noFill/>
          <a:ln w="19050">
            <a:solidFill>
              <a:srgbClr val="232A5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807208"/>
            <a:ext cx="502920" cy="502920"/>
          </a:xfrm>
          <a:prstGeom prst="ellipse">
            <a:avLst/>
          </a:prstGeom>
          <a:solidFill>
            <a:srgbClr val="232A52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8072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34440" y="278892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 NPR vs. Bayar+SRM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34440" y="313639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resize/downscale stress test to decide the forensic frontend for real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00100" y="3310128"/>
            <a:ext cx="0" cy="338328"/>
          </a:xfrm>
          <a:prstGeom prst="line">
            <a:avLst/>
          </a:prstGeom>
          <a:noFill/>
          <a:ln w="19050">
            <a:solidFill>
              <a:srgbClr val="232A5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648456"/>
            <a:ext cx="502920" cy="502920"/>
          </a:xfrm>
          <a:prstGeom prst="ellipse">
            <a:avLst/>
          </a:prstGeom>
          <a:solidFill>
            <a:srgbClr val="232A52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6484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34440" y="363016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full robustness benchmark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34440" y="397764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accuracy-vs-severity curves across every degradation, not spot checks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00100" y="4151376"/>
            <a:ext cx="0" cy="338328"/>
          </a:xfrm>
          <a:prstGeom prst="line">
            <a:avLst/>
          </a:prstGeom>
          <a:noFill/>
          <a:ln w="19050">
            <a:solidFill>
              <a:srgbClr val="232A5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4489704"/>
            <a:ext cx="502920" cy="502920"/>
          </a:xfrm>
          <a:prstGeom prst="ellipse">
            <a:avLst/>
          </a:prstGeom>
          <a:solidFill>
            <a:srgbClr val="232A52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44897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34440" y="4471416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real explainability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234440" y="481888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Grad-CAM / attention rollout to the fused model — no more placeholder heatmap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00100" y="4992624"/>
            <a:ext cx="0" cy="338328"/>
          </a:xfrm>
          <a:prstGeom prst="line">
            <a:avLst/>
          </a:prstGeom>
          <a:noFill/>
          <a:ln w="19050">
            <a:solidFill>
              <a:srgbClr val="232A5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5330952"/>
            <a:ext cx="502920" cy="502920"/>
          </a:xfrm>
          <a:prstGeom prst="ellipse">
            <a:avLst/>
          </a:prstGeom>
          <a:solidFill>
            <a:srgbClr val="232A52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53309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234440" y="5312664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past the smoke-test dataset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234440" y="5660136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 the full SID_Set instead of the 10K-image hackathon pull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48640" y="652881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AA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RAID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515600" y="652881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12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F5F7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by four people, four modules.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349240" cy="1783080"/>
          </a:xfrm>
          <a:prstGeom prst="roundRect">
            <a:avLst>
              <a:gd name="adj" fmla="val 6154"/>
            </a:avLst>
          </a:prstGeom>
          <a:solidFill>
            <a:srgbClr val="161B38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258568"/>
            <a:ext cx="777240" cy="777240"/>
          </a:xfrm>
          <a:prstGeom prst="ellipse">
            <a:avLst/>
          </a:prstGeom>
          <a:solidFill>
            <a:srgbClr val="232A52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25856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783080" y="2203704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morpheuschoo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783080" y="253288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EC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&amp; Training Lead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22960" y="3136392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AA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stream · fusion training · base configs · HF importer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72200" y="1965960"/>
            <a:ext cx="5349240" cy="1783080"/>
          </a:xfrm>
          <a:prstGeom prst="roundRect">
            <a:avLst>
              <a:gd name="adj" fmla="val 6154"/>
            </a:avLst>
          </a:prstGeom>
          <a:solidFill>
            <a:srgbClr val="161B38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46520" y="2258568"/>
            <a:ext cx="777240" cy="777240"/>
          </a:xfrm>
          <a:prstGeom prst="ellipse">
            <a:avLst/>
          </a:prstGeom>
          <a:solidFill>
            <a:srgbClr val="232A52"/>
          </a:solidFill>
          <a:ln/>
        </p:spPr>
      </p:sp>
      <p:sp>
        <p:nvSpPr>
          <p:cNvPr id="12" name="Text 10"/>
          <p:cNvSpPr/>
          <p:nvPr/>
        </p:nvSpPr>
        <p:spPr>
          <a:xfrm>
            <a:off x="6446520" y="225856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JG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406640" y="2203704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Goh Jin Yu  (@Beastarz)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406640" y="253288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EC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Scaffolding, Docs &amp; Inference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446520" y="3136392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AA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blueprint · data/aug scaffolding · Gradio demo · README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4023360"/>
            <a:ext cx="5349240" cy="1783080"/>
          </a:xfrm>
          <a:prstGeom prst="roundRect">
            <a:avLst>
              <a:gd name="adj" fmla="val 6154"/>
            </a:avLst>
          </a:prstGeom>
          <a:solidFill>
            <a:srgbClr val="161B38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2960" y="4315968"/>
            <a:ext cx="777240" cy="777240"/>
          </a:xfrm>
          <a:prstGeom prst="ellipse">
            <a:avLst/>
          </a:prstGeom>
          <a:solidFill>
            <a:srgbClr val="232A52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31596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783080" y="4261104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Shawn Wee  (@McFishhh)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783080" y="459028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EC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Forensic Stream Lead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22960" y="5193792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AA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NPR stream · Bayar+SRM frontend · robustness evaluation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172200" y="4023360"/>
            <a:ext cx="5349240" cy="1783080"/>
          </a:xfrm>
          <a:prstGeom prst="roundRect">
            <a:avLst>
              <a:gd name="adj" fmla="val 6154"/>
            </a:avLst>
          </a:prstGeom>
          <a:solidFill>
            <a:srgbClr val="161B38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46520" y="4315968"/>
            <a:ext cx="777240" cy="777240"/>
          </a:xfrm>
          <a:prstGeom prst="ellipse">
            <a:avLst/>
          </a:prstGeom>
          <a:solidFill>
            <a:srgbClr val="232A52"/>
          </a:solidFill>
          <a:ln/>
        </p:spPr>
      </p:sp>
      <p:sp>
        <p:nvSpPr>
          <p:cNvPr id="24" name="Text 22"/>
          <p:cNvSpPr/>
          <p:nvPr/>
        </p:nvSpPr>
        <p:spPr>
          <a:xfrm>
            <a:off x="6446520" y="431596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7406640" y="4261104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Shen Yu Chen, Keith  (@blurfrost)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406640" y="459028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EC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&amp; Explainability Lead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446520" y="5193792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AA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Metrics/calibration/reporting · explainability contracts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48640" y="652881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AA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RAID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515600" y="652881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12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8000"/>
          </a:blip>
          <a:stretch>
            <a:fillRect/>
          </a:stretch>
        </p:blipFill>
        <p:spPr>
          <a:xfrm>
            <a:off x="8503920" y="1005840"/>
            <a:ext cx="3291840" cy="32918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8288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5F7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you.</a:t>
            </a:r>
            <a:endParaRPr lang="en-US" sz="5200" dirty="0"/>
          </a:p>
        </p:txBody>
      </p:sp>
      <p:sp>
        <p:nvSpPr>
          <p:cNvPr id="4" name="Text 1"/>
          <p:cNvSpPr/>
          <p:nvPr/>
        </p:nvSpPr>
        <p:spPr>
          <a:xfrm>
            <a:off x="685800" y="2788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RAID — Robust AI-generated Image Detector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85800" y="32461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AA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AI fakes before they slip past you.</a:t>
            </a:r>
            <a:endParaRPr lang="en-US" sz="14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160520"/>
            <a:ext cx="237744" cy="23774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69264" y="413308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github.com/RAID-techjam/RAID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685800" y="62636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#python  #pytorch  #torchvision  #vit  #convnext  #albumentations  #huggingface  #gradio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2026-09-01T00:18:04Z</dcterms:created>
  <dcterms:modified xsi:type="dcterms:W3CDTF">2026-09-01T00:18:04Z</dcterms:modified>
</cp:coreProperties>
</file>